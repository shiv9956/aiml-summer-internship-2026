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9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483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4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3838575" cy="5143500"/>
          </a:xfrm>
          <a:prstGeom prst="rect">
            <a:avLst/>
          </a:prstGeom>
          <a:solidFill>
            <a:srgbClr val="143642"/>
          </a:solidFill>
          <a:ln/>
        </p:spPr>
      </p:sp>
      <p:sp>
        <p:nvSpPr>
          <p:cNvPr id="4" name="Shape 2"/>
          <p:cNvSpPr/>
          <p:nvPr/>
        </p:nvSpPr>
        <p:spPr>
          <a:xfrm>
            <a:off x="3839282" y="0"/>
            <a:ext cx="5715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5" name="Shape 3"/>
          <p:cNvSpPr/>
          <p:nvPr/>
        </p:nvSpPr>
        <p:spPr>
          <a:xfrm>
            <a:off x="366378" y="360648"/>
            <a:ext cx="309562" cy="309562"/>
          </a:xfrm>
          <a:prstGeom prst="ellipse">
            <a:avLst/>
          </a:prstGeom>
          <a:ln w="1905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9507" y="426839"/>
            <a:ext cx="2173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67953" y="449461"/>
            <a:ext cx="24538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77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machine learning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365745" y="1948011"/>
            <a:ext cx="15631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860" kern="0" spc="259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PRESENTED BY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65745" y="2193578"/>
            <a:ext cx="199801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418"/>
              </a:spcAft>
              <a:buNone/>
            </a:pPr>
            <a:r>
              <a:rPr lang="en-US" sz="259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Shiv Dixit</a:t>
            </a:r>
            <a:endParaRPr lang="en-US" sz="2590" dirty="0"/>
          </a:p>
        </p:txBody>
      </p:sp>
      <p:sp>
        <p:nvSpPr>
          <p:cNvPr id="10" name="Shape 8"/>
          <p:cNvSpPr/>
          <p:nvPr/>
        </p:nvSpPr>
        <p:spPr>
          <a:xfrm>
            <a:off x="364778" y="2756595"/>
            <a:ext cx="73342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45" y="2959671"/>
            <a:ext cx="131910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860" kern="0" spc="173" dirty="0">
                <a:solidFill>
                  <a:srgbClr val="F3EE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 NUMBER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365745" y="3159844"/>
            <a:ext cx="16155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kern="0" spc="3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2401220100217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65745" y="4651102"/>
            <a:ext cx="236319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8" dirty="0">
                <a:solidFill>
                  <a:srgbClr val="F4EF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 &amp; Machine Learning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7881417" y="914028"/>
            <a:ext cx="147637" cy="147637"/>
          </a:xfrm>
          <a:prstGeom prst="ellipse">
            <a:avLst/>
          </a:prstGeom>
          <a:solidFill>
            <a:srgbClr val="143844">
              <a:alpha val="2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97635" y="1324124"/>
            <a:ext cx="70819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940" kern="0" spc="28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TOPIC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297635" y="1570881"/>
            <a:ext cx="1483362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90" b="1" kern="0" spc="-97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AIML</a:t>
            </a:r>
            <a:endParaRPr lang="en-US" sz="3890" dirty="0"/>
          </a:p>
        </p:txBody>
      </p:sp>
      <p:sp>
        <p:nvSpPr>
          <p:cNvPr id="20" name="Text 18"/>
          <p:cNvSpPr/>
          <p:nvPr/>
        </p:nvSpPr>
        <p:spPr>
          <a:xfrm>
            <a:off x="4297635" y="2149078"/>
            <a:ext cx="379066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2300" kern="0" spc="-58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History and Evolution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297635" y="2714327"/>
            <a:ext cx="3904335" cy="37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Tracing the journey of intelligent machines — from a</a:t>
            </a:r>
            <a:endParaRPr lang="en-US" sz="1010" dirty="0"/>
          </a:p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wartime idea to the generative systems of today.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297635" y="3381747"/>
            <a:ext cx="773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1950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4297635" y="3703439"/>
            <a:ext cx="64212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680" kern="0" spc="103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5122590" y="3521943"/>
            <a:ext cx="14288" cy="204787"/>
          </a:xfrm>
          <a:prstGeom prst="rect">
            <a:avLst/>
          </a:prstGeom>
          <a:solidFill>
            <a:srgbClr val="14374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10870" y="3381747"/>
            <a:ext cx="9866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2020s</a:t>
            </a:r>
            <a:endParaRPr lang="en-US" sz="1870" dirty="0"/>
          </a:p>
        </p:txBody>
      </p:sp>
      <p:sp>
        <p:nvSpPr>
          <p:cNvPr id="26" name="Text 24"/>
          <p:cNvSpPr/>
          <p:nvPr/>
        </p:nvSpPr>
        <p:spPr>
          <a:xfrm>
            <a:off x="5410870" y="3703439"/>
            <a:ext cx="4916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680" kern="0" spc="103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68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A7285FB-3531-473A-9D6A-57DCED65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412" y="244462"/>
            <a:ext cx="1998010" cy="1998010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4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-1097280"/>
            <a:ext cx="2743200" cy="2743200"/>
          </a:xfrm>
          <a:prstGeom prst="ellipse">
            <a:avLst/>
          </a:prstGeom>
          <a:solidFill>
            <a:srgbClr val="EAE3D1">
              <a:alpha val="7019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9540"/>
            <a:ext cx="2271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725091" y="378396"/>
            <a:ext cx="13814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457200" y="532507"/>
            <a:ext cx="4344010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AI and ML?</a:t>
            </a:r>
            <a:endParaRPr lang="en-US" sz="3020" dirty="0"/>
          </a:p>
        </p:txBody>
      </p:sp>
      <p:sp>
        <p:nvSpPr>
          <p:cNvPr id="7" name="Shape 5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63303"/>
            <a:ext cx="244571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Artificial Intelligence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57200" y="1989088"/>
            <a:ext cx="3931325" cy="56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broad science of building machines that perform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tasks requiring human-like reasoning, perception, and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decision-making.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57200" y="2770733"/>
            <a:ext cx="209987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Learning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57200" y="3096518"/>
            <a:ext cx="4544355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subset of AI where systems learn patterns directly from data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improve with experience, instead of following fixed rules.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57200" y="3677617"/>
            <a:ext cx="170702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4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Learning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57200" y="4003402"/>
            <a:ext cx="4416467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subset of ML using multi-layered neural networks to model</a:t>
            </a:r>
            <a:endParaRPr lang="en-US" sz="970" dirty="0"/>
          </a:p>
          <a:p>
            <a:pPr marL="0" indent="0" algn="l">
              <a:lnSpc>
                <a:spcPts val="1579"/>
              </a:lnSpc>
              <a:buNone/>
            </a:pPr>
            <a:r>
              <a:rPr lang="en-US" sz="97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highly complex patterns in images, speech, and language.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146700" y="1597968"/>
            <a:ext cx="2833687" cy="2833687"/>
          </a:xfrm>
          <a:prstGeom prst="ellipse">
            <a:avLst/>
          </a:prstGeom>
          <a:solidFill>
            <a:srgbClr val="143B45">
              <a:alpha val="10196"/>
            </a:srgbClr>
          </a:solidFill>
          <a:ln w="14288">
            <a:solidFill>
              <a:srgbClr val="143542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4395" y="1749475"/>
            <a:ext cx="1848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Artificial Intelligence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65750" y="1991804"/>
            <a:ext cx="2195513" cy="2195513"/>
          </a:xfrm>
          <a:prstGeom prst="ellipse">
            <a:avLst/>
          </a:prstGeom>
          <a:solidFill>
            <a:srgbClr val="107394">
              <a:alpha val="12157"/>
            </a:srgbClr>
          </a:solidFill>
          <a:ln w="14288">
            <a:solidFill>
              <a:srgbClr val="0F739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3475" y="2133972"/>
            <a:ext cx="14871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Learning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5832425" y="2363539"/>
            <a:ext cx="1462088" cy="1462088"/>
          </a:xfrm>
          <a:prstGeom prst="ellipse">
            <a:avLst/>
          </a:prstGeom>
          <a:solidFill>
            <a:srgbClr val="C2430B">
              <a:alpha val="18039"/>
            </a:srgbClr>
          </a:solidFill>
          <a:ln w="14288">
            <a:solidFill>
              <a:srgbClr val="C1420C">
                <a:alpha val="5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57378" y="3009826"/>
            <a:ext cx="12121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Learning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6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9540"/>
            <a:ext cx="2490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40" dirty="0"/>
          </a:p>
        </p:txBody>
      </p:sp>
      <p:sp>
        <p:nvSpPr>
          <p:cNvPr id="5" name="Text 2"/>
          <p:cNvSpPr/>
          <p:nvPr/>
        </p:nvSpPr>
        <p:spPr>
          <a:xfrm>
            <a:off x="741983" y="378396"/>
            <a:ext cx="15099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A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1940S — 1950S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7200" y="532507"/>
            <a:ext cx="4538744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Birth of an Idea</a:t>
            </a:r>
            <a:endParaRPr lang="en-US" sz="3020" dirty="0"/>
          </a:p>
        </p:txBody>
      </p:sp>
      <p:sp>
        <p:nvSpPr>
          <p:cNvPr id="7" name="Shape 4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11002"/>
            <a:ext cx="6244047" cy="37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computers were common, mathematicians and logicians laid the theoretical</a:t>
            </a:r>
            <a:endParaRPr lang="en-US" sz="1010" dirty="0"/>
          </a:p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groundwork for thinking machines.</a:t>
            </a:r>
            <a:endParaRPr lang="en-US" sz="1010" dirty="0"/>
          </a:p>
        </p:txBody>
      </p:sp>
      <p:sp>
        <p:nvSpPr>
          <p:cNvPr id="9" name="Shape 6"/>
          <p:cNvSpPr/>
          <p:nvPr/>
        </p:nvSpPr>
        <p:spPr>
          <a:xfrm>
            <a:off x="457200" y="1765660"/>
            <a:ext cx="8229600" cy="14288"/>
          </a:xfrm>
          <a:prstGeom prst="rect">
            <a:avLst/>
          </a:prstGeom>
          <a:solidFill>
            <a:srgbClr val="F3EFE3">
              <a:alpha val="25098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70297" y="1727522"/>
            <a:ext cx="90488" cy="9048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Shape 8"/>
          <p:cNvSpPr/>
          <p:nvPr/>
        </p:nvSpPr>
        <p:spPr>
          <a:xfrm>
            <a:off x="3868341" y="1727522"/>
            <a:ext cx="90488" cy="9048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2" name="Shape 9"/>
          <p:cNvSpPr/>
          <p:nvPr/>
        </p:nvSpPr>
        <p:spPr>
          <a:xfrm>
            <a:off x="6995592" y="1727522"/>
            <a:ext cx="90488" cy="9048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09998"/>
            <a:ext cx="71729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73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1943</a:t>
            </a:r>
            <a:endParaRPr lang="en-US" sz="1730" dirty="0"/>
          </a:p>
        </p:txBody>
      </p:sp>
      <p:sp>
        <p:nvSpPr>
          <p:cNvPr id="14" name="Text 11"/>
          <p:cNvSpPr/>
          <p:nvPr/>
        </p:nvSpPr>
        <p:spPr>
          <a:xfrm>
            <a:off x="457200" y="2381027"/>
            <a:ext cx="15493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Artificial Neurons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7200" y="2627784"/>
            <a:ext cx="3203756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McCulloch and Pitts model the first mathematical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neuron — the seed of all neural networks.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291855" y="2009998"/>
            <a:ext cx="71845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73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1950</a:t>
            </a:r>
            <a:endParaRPr lang="en-US" sz="1730" dirty="0"/>
          </a:p>
        </p:txBody>
      </p:sp>
      <p:sp>
        <p:nvSpPr>
          <p:cNvPr id="17" name="Text 14"/>
          <p:cNvSpPr/>
          <p:nvPr/>
        </p:nvSpPr>
        <p:spPr>
          <a:xfrm>
            <a:off x="3291855" y="2381027"/>
            <a:ext cx="13619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Turing Test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3291855" y="2627784"/>
            <a:ext cx="2846985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Alan Turing asks "Can machines think?" and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proposes a test for machine intelligence.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6126510" y="2009998"/>
            <a:ext cx="70994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73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1956</a:t>
            </a:r>
            <a:endParaRPr lang="en-US" sz="1730" dirty="0"/>
          </a:p>
        </p:txBody>
      </p:sp>
      <p:sp>
        <p:nvSpPr>
          <p:cNvPr id="20" name="Text 17"/>
          <p:cNvSpPr/>
          <p:nvPr/>
        </p:nvSpPr>
        <p:spPr>
          <a:xfrm>
            <a:off x="6126510" y="2381027"/>
            <a:ext cx="19003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Dartmouth Workshop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126510" y="2627784"/>
            <a:ext cx="2654186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John McCarthy coins the term "Artificial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A6AF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Intelligence" — the field is officially born.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9540"/>
            <a:ext cx="25120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743620" y="378396"/>
            <a:ext cx="15099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1960S — 1980S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532507"/>
            <a:ext cx="6500887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Optimism and the AI Winters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57685"/>
            <a:ext cx="56976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1958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1234380" y="1957685"/>
            <a:ext cx="14701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Perceptron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34380" y="2197671"/>
            <a:ext cx="4198709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Frank Rosenblatt builds an early learning machine that adjusts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own weights.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23406"/>
            <a:ext cx="68304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1970s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1234380" y="2723406"/>
            <a:ext cx="13350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AI Winter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34380" y="2963391"/>
            <a:ext cx="4291965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 computing power and unmet promises cause funding to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dry up across the field.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89127"/>
            <a:ext cx="69891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1980s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1234380" y="3489127"/>
            <a:ext cx="15018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Expert Systems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34380" y="3729112"/>
            <a:ext cx="4004459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programs bring AI into industry — followed by a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winter late in the decade.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00761" y="1245580"/>
            <a:ext cx="3786188" cy="3538538"/>
          </a:xfrm>
          <a:prstGeom prst="roundRect">
            <a:avLst>
              <a:gd name="adj" fmla="val 2153"/>
            </a:avLst>
          </a:prstGeom>
          <a:solidFill>
            <a:srgbClr val="EAE2D1"/>
          </a:solidFill>
          <a:ln/>
        </p:spPr>
      </p:sp>
      <p:sp>
        <p:nvSpPr>
          <p:cNvPr id="17" name="Text 15"/>
          <p:cNvSpPr/>
          <p:nvPr/>
        </p:nvSpPr>
        <p:spPr>
          <a:xfrm>
            <a:off x="5129510" y="2011710"/>
            <a:ext cx="16174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Cycle of Hype</a:t>
            </a:r>
            <a:endParaRPr lang="en-US" sz="108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10" y="2305943"/>
            <a:ext cx="3328690" cy="133729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9510" y="3729856"/>
            <a:ext cx="3759518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8"/>
              </a:lnSpc>
              <a:buNone/>
            </a:pPr>
            <a:r>
              <a:rPr lang="en-US" sz="7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Excitement, disappointment, and renewal — a pattern that repeats</a:t>
            </a:r>
            <a:endParaRPr lang="en-US" sz="760" dirty="0"/>
          </a:p>
          <a:p>
            <a:pPr marL="0" indent="0" algn="l">
              <a:lnSpc>
                <a:spcPts val="1228"/>
              </a:lnSpc>
              <a:buNone/>
            </a:pPr>
            <a:r>
              <a:rPr lang="en-US" sz="7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throughout AI history.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4"/>
          </a:solidFill>
          <a:ln/>
        </p:spPr>
      </p:sp>
      <p:sp>
        <p:nvSpPr>
          <p:cNvPr id="3" name="Shape 1"/>
          <p:cNvSpPr/>
          <p:nvPr/>
        </p:nvSpPr>
        <p:spPr>
          <a:xfrm>
            <a:off x="-768574" y="-768574"/>
            <a:ext cx="2195513" cy="2195513"/>
          </a:xfrm>
          <a:prstGeom prst="ellipse">
            <a:avLst/>
          </a:prstGeom>
          <a:solidFill>
            <a:srgbClr val="0A7693">
              <a:alpha val="1019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9540"/>
            <a:ext cx="2555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746968" y="378396"/>
            <a:ext cx="15099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1990S — 2000S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457200" y="532507"/>
            <a:ext cx="6779977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Rise of Machine Learning</a:t>
            </a:r>
            <a:endParaRPr lang="en-US" sz="3020" dirty="0"/>
          </a:p>
        </p:txBody>
      </p:sp>
      <p:sp>
        <p:nvSpPr>
          <p:cNvPr id="7" name="Shape 5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1002"/>
            <a:ext cx="69439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101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focus shifts from hand-written rules to statistical learning from growing volumes of data.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457200" y="1558193"/>
            <a:ext cx="2590800" cy="3224213"/>
          </a:xfrm>
          <a:prstGeom prst="roundRect">
            <a:avLst>
              <a:gd name="adj" fmla="val 2941"/>
            </a:avLst>
          </a:prstGeom>
          <a:solidFill>
            <a:srgbClr val="EAE2D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35" y="1759000"/>
            <a:ext cx="6382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1997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640035" y="2133005"/>
            <a:ext cx="9767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Blue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35" y="2403872"/>
            <a:ext cx="2809257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IBM's chess computer defeats world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champion Garry Kasparov — a landmark for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reasoning.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276600" y="1558193"/>
            <a:ext cx="2590800" cy="3224213"/>
          </a:xfrm>
          <a:prstGeom prst="roundRect">
            <a:avLst>
              <a:gd name="adj" fmla="val 2941"/>
            </a:avLst>
          </a:prstGeom>
          <a:solidFill>
            <a:srgbClr val="EAE2D1"/>
          </a:solidFill>
          <a:ln/>
        </p:spPr>
      </p:sp>
      <p:sp>
        <p:nvSpPr>
          <p:cNvPr id="14" name="Text 12"/>
          <p:cNvSpPr/>
          <p:nvPr/>
        </p:nvSpPr>
        <p:spPr>
          <a:xfrm>
            <a:off x="3459435" y="1759000"/>
            <a:ext cx="8050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1990s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3459435" y="2133005"/>
            <a:ext cx="132577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59435" y="2403872"/>
            <a:ext cx="2660377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vector machines, decision trees,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ensembles make learning from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practical.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096000" y="1558193"/>
            <a:ext cx="2590800" cy="3224213"/>
          </a:xfrm>
          <a:prstGeom prst="roundRect">
            <a:avLst>
              <a:gd name="adj" fmla="val 2941"/>
            </a:avLst>
          </a:prstGeom>
          <a:solidFill>
            <a:srgbClr val="EAE2D1"/>
          </a:solidFill>
          <a:ln/>
        </p:spPr>
      </p:sp>
      <p:sp>
        <p:nvSpPr>
          <p:cNvPr id="18" name="Text 16"/>
          <p:cNvSpPr/>
          <p:nvPr/>
        </p:nvSpPr>
        <p:spPr>
          <a:xfrm>
            <a:off x="6278835" y="1759000"/>
            <a:ext cx="8578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2000s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6278835" y="2133005"/>
            <a:ext cx="144041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5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 Boom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78835" y="2403872"/>
            <a:ext cx="2917894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internet floods the world with data,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fueling recommendation and search systems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scale.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6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9540"/>
            <a:ext cx="2500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940" dirty="0"/>
          </a:p>
        </p:txBody>
      </p:sp>
      <p:sp>
        <p:nvSpPr>
          <p:cNvPr id="5" name="Text 2"/>
          <p:cNvSpPr/>
          <p:nvPr/>
        </p:nvSpPr>
        <p:spPr>
          <a:xfrm>
            <a:off x="742727" y="378396"/>
            <a:ext cx="6429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9AA4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2010S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7200" y="532507"/>
            <a:ext cx="6897224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Deep Learning Revolution</a:t>
            </a:r>
            <a:endParaRPr lang="en-US" sz="3020" dirty="0"/>
          </a:p>
        </p:txBody>
      </p:sp>
      <p:sp>
        <p:nvSpPr>
          <p:cNvPr id="7" name="Shape 4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918692"/>
            <a:ext cx="189014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51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2012 — AlexNet</a:t>
            </a:r>
            <a:endParaRPr lang="en-US" sz="1510" dirty="0"/>
          </a:p>
        </p:txBody>
      </p:sp>
      <p:sp>
        <p:nvSpPr>
          <p:cNvPr id="9" name="Text 6"/>
          <p:cNvSpPr/>
          <p:nvPr/>
        </p:nvSpPr>
        <p:spPr>
          <a:xfrm>
            <a:off x="457200" y="2232720"/>
            <a:ext cx="4731737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deep neural network crushes the ImageNet contest, proving deep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at scale.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457200" y="2777951"/>
            <a:ext cx="19370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51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 Computing</a:t>
            </a:r>
            <a:endParaRPr lang="en-US" sz="1510" dirty="0"/>
          </a:p>
        </p:txBody>
      </p:sp>
      <p:sp>
        <p:nvSpPr>
          <p:cNvPr id="11" name="Text 8"/>
          <p:cNvSpPr/>
          <p:nvPr/>
        </p:nvSpPr>
        <p:spPr>
          <a:xfrm>
            <a:off x="457200" y="3091979"/>
            <a:ext cx="51141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Graphics processors make training massive networks fast and affordable.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457200" y="3444106"/>
            <a:ext cx="196647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51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2016 — AlphaGo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457200" y="3758133"/>
            <a:ext cx="4974357" cy="35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DeepMind's system beats a Go world champion — a game once thought</a:t>
            </a:r>
            <a:endParaRPr lang="en-US" sz="94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94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machines.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6154192" y="2000473"/>
            <a:ext cx="15301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C7CA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Neural Network</a:t>
            </a:r>
            <a:endParaRPr lang="en-US" sz="108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35" y="2294706"/>
            <a:ext cx="3931890" cy="1748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4"/>
          </a:solidFill>
          <a:ln/>
        </p:spPr>
      </p:sp>
      <p:sp>
        <p:nvSpPr>
          <p:cNvPr id="3" name="Shape 1"/>
          <p:cNvSpPr/>
          <p:nvPr/>
        </p:nvSpPr>
        <p:spPr>
          <a:xfrm>
            <a:off x="6967255" y="-1244061"/>
            <a:ext cx="3109913" cy="3109913"/>
          </a:xfrm>
          <a:prstGeom prst="ellipse">
            <a:avLst/>
          </a:prstGeom>
          <a:solidFill>
            <a:srgbClr val="C4450A">
              <a:alpha val="1019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9540"/>
            <a:ext cx="2527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940" dirty="0"/>
          </a:p>
        </p:txBody>
      </p:sp>
      <p:sp>
        <p:nvSpPr>
          <p:cNvPr id="5" name="Text 3"/>
          <p:cNvSpPr/>
          <p:nvPr/>
        </p:nvSpPr>
        <p:spPr>
          <a:xfrm>
            <a:off x="744810" y="378396"/>
            <a:ext cx="17571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238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2020S — PRESENT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457200" y="532507"/>
            <a:ext cx="5619408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3020" b="1" kern="0" spc="-76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 of Generative AI</a:t>
            </a:r>
            <a:endParaRPr lang="en-US" sz="3020" dirty="0"/>
          </a:p>
        </p:txBody>
      </p:sp>
      <p:sp>
        <p:nvSpPr>
          <p:cNvPr id="7" name="Shape 5"/>
          <p:cNvSpPr/>
          <p:nvPr/>
        </p:nvSpPr>
        <p:spPr>
          <a:xfrm>
            <a:off x="458130" y="1025686"/>
            <a:ext cx="638175" cy="1428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1002"/>
            <a:ext cx="5777672" cy="37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Transformer models unlock systems that write, code, converse, and create at</a:t>
            </a:r>
            <a:endParaRPr lang="en-US" sz="1010" dirty="0"/>
          </a:p>
          <a:p>
            <a:pPr marL="0" indent="0" algn="l">
              <a:lnSpc>
                <a:spcPts val="1638"/>
              </a:lnSpc>
              <a:buNone/>
            </a:pPr>
            <a:r>
              <a:rPr lang="en-US" sz="101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scale.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457758" y="1713681"/>
            <a:ext cx="2209800" cy="1528763"/>
          </a:xfrm>
          <a:prstGeom prst="roundRect">
            <a:avLst>
              <a:gd name="adj" fmla="val 4984"/>
            </a:avLst>
          </a:prstGeom>
          <a:solidFill>
            <a:srgbClr val="EAE2D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29" y="1892424"/>
            <a:ext cx="53803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2017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29" y="2180406"/>
            <a:ext cx="11185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1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Transformers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29" y="2403202"/>
            <a:ext cx="1964345" cy="479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"Attention Is All You Need"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 reshapes how machines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language.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851547" y="1713681"/>
            <a:ext cx="2209800" cy="1528763"/>
          </a:xfrm>
          <a:prstGeom prst="roundRect">
            <a:avLst>
              <a:gd name="adj" fmla="val 4984"/>
            </a:avLst>
          </a:prstGeom>
          <a:solidFill>
            <a:srgbClr val="EAE2D1"/>
          </a:solidFill>
          <a:ln/>
        </p:spPr>
      </p:sp>
      <p:sp>
        <p:nvSpPr>
          <p:cNvPr id="14" name="Text 12"/>
          <p:cNvSpPr/>
          <p:nvPr/>
        </p:nvSpPr>
        <p:spPr>
          <a:xfrm>
            <a:off x="3015481" y="1892424"/>
            <a:ext cx="576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5481" y="2180406"/>
            <a:ext cx="7410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1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ChatGPT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3015481" y="2403202"/>
            <a:ext cx="2306412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Conversational AI reaches the public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becomes part of everyday work.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57758" y="3425763"/>
            <a:ext cx="2209800" cy="1357313"/>
          </a:xfrm>
          <a:prstGeom prst="roundRect">
            <a:avLst>
              <a:gd name="adj" fmla="val 5614"/>
            </a:avLst>
          </a:prstGeom>
          <a:solidFill>
            <a:srgbClr val="EAE2D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29" y="3604171"/>
            <a:ext cx="49866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29" y="3892153"/>
            <a:ext cx="11510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1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Multimodal AI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621729" y="4114949"/>
            <a:ext cx="2332918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that understand text, images,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audio, and video together.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851547" y="3425763"/>
            <a:ext cx="2209800" cy="1357313"/>
          </a:xfrm>
          <a:prstGeom prst="roundRect">
            <a:avLst>
              <a:gd name="adj" fmla="val 5614"/>
            </a:avLst>
          </a:prstGeom>
          <a:solidFill>
            <a:srgbClr val="EAE2D1"/>
          </a:solidFill>
          <a:ln/>
        </p:spPr>
      </p:sp>
      <p:sp>
        <p:nvSpPr>
          <p:cNvPr id="22" name="Text 20"/>
          <p:cNvSpPr/>
          <p:nvPr/>
        </p:nvSpPr>
        <p:spPr>
          <a:xfrm>
            <a:off x="3015481" y="3604171"/>
            <a:ext cx="5412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5481" y="3892153"/>
            <a:ext cx="16890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10" b="1" dirty="0">
                <a:solidFill>
                  <a:srgbClr val="1436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Agents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3015481" y="4114949"/>
            <a:ext cx="2320149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that plans and acts across tools to</a:t>
            </a:r>
            <a:endParaRPr lang="en-US" sz="830" dirty="0"/>
          </a:p>
          <a:p>
            <a:pPr marL="0" indent="0" algn="l">
              <a:lnSpc>
                <a:spcPts val="1345"/>
              </a:lnSpc>
              <a:buNone/>
            </a:pPr>
            <a:r>
              <a:rPr lang="en-US" sz="830" dirty="0">
                <a:solidFill>
                  <a:srgbClr val="6B61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real-world tasks.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335116" y="1712640"/>
            <a:ext cx="3352800" cy="3071813"/>
          </a:xfrm>
          <a:prstGeom prst="roundRect">
            <a:avLst>
              <a:gd name="adj" fmla="val 2481"/>
            </a:avLst>
          </a:prstGeom>
          <a:solidFill>
            <a:srgbClr val="143642"/>
          </a:solidFill>
          <a:ln/>
        </p:spPr>
      </p:sp>
      <p:sp>
        <p:nvSpPr>
          <p:cNvPr id="26" name="Text 24"/>
          <p:cNvSpPr/>
          <p:nvPr/>
        </p:nvSpPr>
        <p:spPr>
          <a:xfrm>
            <a:off x="5564832" y="2568178"/>
            <a:ext cx="133119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790" kern="0" spc="238" dirty="0">
                <a:solidFill>
                  <a:srgbClr val="C241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JOURNEY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5564832" y="2798118"/>
            <a:ext cx="3806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58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 single artificial neuron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5564832" y="3029396"/>
            <a:ext cx="30169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580" b="1" dirty="0">
                <a:solidFill>
                  <a:srgbClr val="F4EFE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systems that create.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5564832" y="3417838"/>
            <a:ext cx="3801792" cy="499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seventy years, AI has moved from theory to a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that shapes how we live, learn, and work — and</a:t>
            </a:r>
            <a:endParaRPr lang="en-US" sz="860" dirty="0"/>
          </a:p>
          <a:p>
            <a:pPr marL="0" indent="0" algn="l">
              <a:lnSpc>
                <a:spcPts val="1404"/>
              </a:lnSpc>
              <a:buNone/>
            </a:pPr>
            <a:r>
              <a:rPr lang="en-US" sz="860" dirty="0">
                <a:solidFill>
                  <a:srgbClr val="B1B8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evolution is only accelerating.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564</Words>
  <Application>Microsoft Office PowerPoint</Application>
  <PresentationFormat>On-screen Show (16:9)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 Dixit</cp:lastModifiedBy>
  <cp:revision>3</cp:revision>
  <dcterms:created xsi:type="dcterms:W3CDTF">2026-07-04T16:10:28Z</dcterms:created>
  <dcterms:modified xsi:type="dcterms:W3CDTF">2026-07-04T16:53:27Z</dcterms:modified>
</cp:coreProperties>
</file>